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pic>
        <p:nvPicPr>
          <p:cNvPr id="4"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5" name="Text 2"/>
          <p:cNvSpPr/>
          <p:nvPr/>
        </p:nvSpPr>
        <p:spPr>
          <a:xfrm>
            <a:off x="833199" y="1845826"/>
            <a:ext cx="7477601" cy="2499598"/>
          </a:xfrm>
          <a:prstGeom prst="rect">
            <a:avLst/>
          </a:prstGeom>
          <a:noFill/>
          <a:ln/>
        </p:spPr>
        <p:txBody>
          <a:bodyPr wrap="square" rtlCol="0" anchor="t"/>
          <a:lstStyle/>
          <a:p>
            <a:pPr indent="0" marL="0">
              <a:lnSpc>
                <a:spcPts val="6561"/>
              </a:lnSpc>
              <a:buNone/>
            </a:pPr>
            <a:r>
              <a:rPr lang="en-US" sz="5249" dirty="0">
                <a:solidFill>
                  <a:srgbClr val="F2F2F3"/>
                </a:solidFill>
                <a:latin typeface="Poppins" pitchFamily="34" charset="0"/>
                <a:ea typeface="Poppins" pitchFamily="34" charset="-122"/>
                <a:cs typeface="Poppins" pitchFamily="34" charset="-120"/>
              </a:rPr>
              <a:t>Machine Learning Final project on Lung Cancer dataset</a:t>
            </a:r>
            <a:endParaRPr lang="en-US" sz="5249" dirty="0"/>
          </a:p>
        </p:txBody>
      </p:sp>
      <p:sp>
        <p:nvSpPr>
          <p:cNvPr id="6" name="Text 3"/>
          <p:cNvSpPr/>
          <p:nvPr/>
        </p:nvSpPr>
        <p:spPr>
          <a:xfrm>
            <a:off x="833199" y="4678680"/>
            <a:ext cx="7477601" cy="1066205"/>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Explore the world of machine learning and its potential in lung cancer research. Discover insights from the dataset, apply feature selection and transformation techniques, and analyze the results.</a:t>
            </a:r>
            <a:endParaRPr lang="en-US" sz="1750" dirty="0"/>
          </a:p>
        </p:txBody>
      </p:sp>
      <p:sp>
        <p:nvSpPr>
          <p:cNvPr id="7" name="Shape 4"/>
          <p:cNvSpPr/>
          <p:nvPr/>
        </p:nvSpPr>
        <p:spPr>
          <a:xfrm>
            <a:off x="833199" y="6011466"/>
            <a:ext cx="355402" cy="355402"/>
          </a:xfrm>
          <a:prstGeom prst="roundRect">
            <a:avLst>
              <a:gd name="adj" fmla="val 25726039"/>
            </a:avLst>
          </a:prstGeom>
          <a:noFill/>
          <a:ln w="7620">
            <a:solidFill>
              <a:srgbClr val="FFFFFF"/>
            </a:solidFill>
            <a:prstDash val="solid"/>
          </a:ln>
        </p:spPr>
      </p:sp>
      <p:pic>
        <p:nvPicPr>
          <p:cNvPr id="8" name="Image 1" descr="preencoded.png">    </p:cNvPr>
          <p:cNvPicPr>
            <a:picLocks noChangeAspect="1"/>
          </p:cNvPicPr>
          <p:nvPr/>
        </p:nvPicPr>
        <p:blipFill>
          <a:blip r:embed="rId2"/>
          <a:stretch>
            <a:fillRect/>
          </a:stretch>
        </p:blipFill>
        <p:spPr>
          <a:xfrm>
            <a:off x="840819" y="6019086"/>
            <a:ext cx="340162" cy="340162"/>
          </a:xfrm>
          <a:prstGeom prst="rect">
            <a:avLst/>
          </a:prstGeom>
        </p:spPr>
      </p:pic>
      <p:sp>
        <p:nvSpPr>
          <p:cNvPr id="9" name="Text 5"/>
          <p:cNvSpPr/>
          <p:nvPr/>
        </p:nvSpPr>
        <p:spPr>
          <a:xfrm>
            <a:off x="1299686" y="5994797"/>
            <a:ext cx="2415540" cy="388858"/>
          </a:xfrm>
          <a:prstGeom prst="rect">
            <a:avLst/>
          </a:prstGeom>
          <a:noFill/>
          <a:ln/>
        </p:spPr>
        <p:txBody>
          <a:bodyPr wrap="none" rtlCol="0" anchor="t"/>
          <a:lstStyle/>
          <a:p>
            <a:pPr algn="l" indent="0" marL="0">
              <a:lnSpc>
                <a:spcPts val="3062"/>
              </a:lnSpc>
              <a:buNone/>
            </a:pPr>
            <a:r>
              <a:rPr lang="en-US" sz="2187" b="1" dirty="0">
                <a:solidFill>
                  <a:srgbClr val="E5E0DF"/>
                </a:solidFill>
                <a:latin typeface="Roboto" pitchFamily="34" charset="0"/>
                <a:ea typeface="Roboto" pitchFamily="34" charset="-122"/>
                <a:cs typeface="Roboto" pitchFamily="34" charset="-120"/>
              </a:rPr>
              <a:t>by Aditya Mallakula</a:t>
            </a:r>
            <a:endParaRPr lang="en-US" sz="2187" dirty="0"/>
          </a:p>
        </p:txBody>
      </p:sp>
      <p:pic>
        <p:nvPicPr>
          <p:cNvPr id="10"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pic>
        <p:nvPicPr>
          <p:cNvPr id="4" name="Image 0" descr="preencoded.png">    </p:cNvPr>
          <p:cNvPicPr>
            <a:picLocks noChangeAspect="1"/>
          </p:cNvPicPr>
          <p:nvPr/>
        </p:nvPicPr>
        <p:blipFill>
          <a:blip r:embed="rId1"/>
          <a:stretch>
            <a:fillRect/>
          </a:stretch>
        </p:blipFill>
        <p:spPr>
          <a:xfrm>
            <a:off x="0" y="0"/>
            <a:ext cx="3657600" cy="8229600"/>
          </a:xfrm>
          <a:prstGeom prst="rect">
            <a:avLst/>
          </a:prstGeom>
        </p:spPr>
      </p:pic>
      <p:sp>
        <p:nvSpPr>
          <p:cNvPr id="5" name="Text 2"/>
          <p:cNvSpPr/>
          <p:nvPr/>
        </p:nvSpPr>
        <p:spPr>
          <a:xfrm>
            <a:off x="4490799" y="736521"/>
            <a:ext cx="9306401" cy="1388745"/>
          </a:xfrm>
          <a:prstGeom prst="rect">
            <a:avLst/>
          </a:prstGeom>
          <a:noFill/>
          <a:ln/>
        </p:spPr>
        <p:txBody>
          <a:bodyPr wrap="squar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Assumptions/Problem Statement/Motivation</a:t>
            </a:r>
            <a:endParaRPr lang="en-US" sz="4374" dirty="0"/>
          </a:p>
        </p:txBody>
      </p:sp>
      <p:sp>
        <p:nvSpPr>
          <p:cNvPr id="6" name="Shape 3"/>
          <p:cNvSpPr/>
          <p:nvPr/>
        </p:nvSpPr>
        <p:spPr>
          <a:xfrm>
            <a:off x="4490799" y="2632115"/>
            <a:ext cx="499943" cy="499943"/>
          </a:xfrm>
          <a:prstGeom prst="roundRect">
            <a:avLst>
              <a:gd name="adj" fmla="val 20000"/>
            </a:avLst>
          </a:prstGeom>
          <a:solidFill>
            <a:srgbClr val="3D3D42"/>
          </a:solidFill>
          <a:ln w="13811">
            <a:solidFill>
              <a:srgbClr val="494950"/>
            </a:solidFill>
            <a:prstDash val="solid"/>
          </a:ln>
        </p:spPr>
      </p:sp>
      <p:sp>
        <p:nvSpPr>
          <p:cNvPr id="7" name="Text 4"/>
          <p:cNvSpPr/>
          <p:nvPr/>
        </p:nvSpPr>
        <p:spPr>
          <a:xfrm>
            <a:off x="4691182" y="2673787"/>
            <a:ext cx="9906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1</a:t>
            </a:r>
            <a:endParaRPr lang="en-US" sz="2624" dirty="0"/>
          </a:p>
        </p:txBody>
      </p:sp>
      <p:sp>
        <p:nvSpPr>
          <p:cNvPr id="8" name="Text 5"/>
          <p:cNvSpPr/>
          <p:nvPr/>
        </p:nvSpPr>
        <p:spPr>
          <a:xfrm>
            <a:off x="5212913" y="2708434"/>
            <a:ext cx="2221944"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Assumptions</a:t>
            </a:r>
            <a:endParaRPr lang="en-US" sz="2187" dirty="0"/>
          </a:p>
        </p:txBody>
      </p:sp>
      <p:sp>
        <p:nvSpPr>
          <p:cNvPr id="9" name="Text 6"/>
          <p:cNvSpPr/>
          <p:nvPr/>
        </p:nvSpPr>
        <p:spPr>
          <a:xfrm>
            <a:off x="5212913" y="3277791"/>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Assuming that the lung cancer dataset contains reliable information and that machine learning algorithms can effectively analyze it.</a:t>
            </a:r>
            <a:endParaRPr lang="en-US" sz="1750" dirty="0"/>
          </a:p>
        </p:txBody>
      </p:sp>
      <p:sp>
        <p:nvSpPr>
          <p:cNvPr id="10" name="Shape 7"/>
          <p:cNvSpPr/>
          <p:nvPr/>
        </p:nvSpPr>
        <p:spPr>
          <a:xfrm>
            <a:off x="4490799" y="4384358"/>
            <a:ext cx="499943" cy="499943"/>
          </a:xfrm>
          <a:prstGeom prst="roundRect">
            <a:avLst>
              <a:gd name="adj" fmla="val 20000"/>
            </a:avLst>
          </a:prstGeom>
          <a:solidFill>
            <a:srgbClr val="3D3D42"/>
          </a:solidFill>
          <a:ln w="13811">
            <a:solidFill>
              <a:srgbClr val="494950"/>
            </a:solidFill>
            <a:prstDash val="solid"/>
          </a:ln>
        </p:spPr>
      </p:sp>
      <p:sp>
        <p:nvSpPr>
          <p:cNvPr id="11" name="Text 8"/>
          <p:cNvSpPr/>
          <p:nvPr/>
        </p:nvSpPr>
        <p:spPr>
          <a:xfrm>
            <a:off x="4645462" y="4426029"/>
            <a:ext cx="19050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2</a:t>
            </a:r>
            <a:endParaRPr lang="en-US" sz="2624" dirty="0"/>
          </a:p>
        </p:txBody>
      </p:sp>
      <p:sp>
        <p:nvSpPr>
          <p:cNvPr id="12" name="Text 9"/>
          <p:cNvSpPr/>
          <p:nvPr/>
        </p:nvSpPr>
        <p:spPr>
          <a:xfrm>
            <a:off x="5212913" y="4460677"/>
            <a:ext cx="2674620"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Problem Statement</a:t>
            </a:r>
            <a:endParaRPr lang="en-US" sz="2187" dirty="0"/>
          </a:p>
        </p:txBody>
      </p:sp>
      <p:sp>
        <p:nvSpPr>
          <p:cNvPr id="13" name="Text 10"/>
          <p:cNvSpPr/>
          <p:nvPr/>
        </p:nvSpPr>
        <p:spPr>
          <a:xfrm>
            <a:off x="5212913" y="5030033"/>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Identifying patterns and predicting lung cancer occurrences based on various parameters in the dataset.</a:t>
            </a:r>
            <a:endParaRPr lang="en-US" sz="1750" dirty="0"/>
          </a:p>
        </p:txBody>
      </p:sp>
      <p:sp>
        <p:nvSpPr>
          <p:cNvPr id="14" name="Shape 11"/>
          <p:cNvSpPr/>
          <p:nvPr/>
        </p:nvSpPr>
        <p:spPr>
          <a:xfrm>
            <a:off x="4490799" y="6136600"/>
            <a:ext cx="499943" cy="499943"/>
          </a:xfrm>
          <a:prstGeom prst="roundRect">
            <a:avLst>
              <a:gd name="adj" fmla="val 20000"/>
            </a:avLst>
          </a:prstGeom>
          <a:solidFill>
            <a:srgbClr val="3D3D42"/>
          </a:solidFill>
          <a:ln w="13811">
            <a:solidFill>
              <a:srgbClr val="494950"/>
            </a:solidFill>
            <a:prstDash val="solid"/>
          </a:ln>
        </p:spPr>
      </p:sp>
      <p:sp>
        <p:nvSpPr>
          <p:cNvPr id="15" name="Text 12"/>
          <p:cNvSpPr/>
          <p:nvPr/>
        </p:nvSpPr>
        <p:spPr>
          <a:xfrm>
            <a:off x="4641652" y="6178272"/>
            <a:ext cx="19812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3</a:t>
            </a:r>
            <a:endParaRPr lang="en-US" sz="2624" dirty="0"/>
          </a:p>
        </p:txBody>
      </p:sp>
      <p:sp>
        <p:nvSpPr>
          <p:cNvPr id="16" name="Text 13"/>
          <p:cNvSpPr/>
          <p:nvPr/>
        </p:nvSpPr>
        <p:spPr>
          <a:xfrm>
            <a:off x="5212913" y="6212919"/>
            <a:ext cx="2221944"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Motivation</a:t>
            </a:r>
            <a:endParaRPr lang="en-US" sz="2187" dirty="0"/>
          </a:p>
        </p:txBody>
      </p:sp>
      <p:sp>
        <p:nvSpPr>
          <p:cNvPr id="17" name="Text 14"/>
          <p:cNvSpPr/>
          <p:nvPr/>
        </p:nvSpPr>
        <p:spPr>
          <a:xfrm>
            <a:off x="5212913" y="6782276"/>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Improving early detection and treatment of lung cancer, potentially saving lives and reducing the global burden of the disease.</a:t>
            </a:r>
            <a:endParaRPr lang="en-US" sz="1750" dirty="0"/>
          </a:p>
        </p:txBody>
      </p:sp>
      <p:pic>
        <p:nvPicPr>
          <p:cNvPr id="18"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sp>
        <p:nvSpPr>
          <p:cNvPr id="4" name="Text 2"/>
          <p:cNvSpPr/>
          <p:nvPr/>
        </p:nvSpPr>
        <p:spPr>
          <a:xfrm>
            <a:off x="2037993" y="1973818"/>
            <a:ext cx="9677400" cy="694373"/>
          </a:xfrm>
          <a:prstGeom prst="rect">
            <a:avLst/>
          </a:prstGeom>
          <a:noFill/>
          <a:ln/>
        </p:spPr>
        <p:txBody>
          <a:bodyPr wrap="non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Data/Data preprocessing/Methods</a:t>
            </a:r>
            <a:endParaRPr lang="en-US" sz="4374" dirty="0"/>
          </a:p>
        </p:txBody>
      </p:sp>
      <p:sp>
        <p:nvSpPr>
          <p:cNvPr id="5" name="Text 3"/>
          <p:cNvSpPr/>
          <p:nvPr/>
        </p:nvSpPr>
        <p:spPr>
          <a:xfrm>
            <a:off x="2037993" y="3223617"/>
            <a:ext cx="2666286" cy="416481"/>
          </a:xfrm>
          <a:prstGeom prst="rect">
            <a:avLst/>
          </a:prstGeom>
          <a:noFill/>
          <a:ln/>
        </p:spPr>
        <p:txBody>
          <a:bodyPr wrap="none" rtlCol="0" anchor="t"/>
          <a:lstStyle/>
          <a:p>
            <a:pPr indent="0" marL="0">
              <a:lnSpc>
                <a:spcPts val="3281"/>
              </a:lnSpc>
              <a:buNone/>
            </a:pPr>
            <a:r>
              <a:rPr lang="en-US" sz="2624" dirty="0">
                <a:solidFill>
                  <a:srgbClr val="F2F2F3"/>
                </a:solidFill>
                <a:latin typeface="Poppins" pitchFamily="34" charset="0"/>
                <a:ea typeface="Poppins" pitchFamily="34" charset="-122"/>
                <a:cs typeface="Poppins" pitchFamily="34" charset="-120"/>
              </a:rPr>
              <a:t>Data</a:t>
            </a:r>
            <a:endParaRPr lang="en-US" sz="2624" dirty="0"/>
          </a:p>
        </p:txBody>
      </p:sp>
      <p:sp>
        <p:nvSpPr>
          <p:cNvPr id="6" name="Text 4"/>
          <p:cNvSpPr/>
          <p:nvPr/>
        </p:nvSpPr>
        <p:spPr>
          <a:xfrm>
            <a:off x="2037993" y="3862268"/>
            <a:ext cx="3156347" cy="1777008"/>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High-quality dataset with diverse information on lung cancer cases, including patient demographics, medical history, and test results.</a:t>
            </a:r>
            <a:endParaRPr lang="en-US" sz="1750" dirty="0"/>
          </a:p>
        </p:txBody>
      </p:sp>
      <p:sp>
        <p:nvSpPr>
          <p:cNvPr id="7" name="Text 5"/>
          <p:cNvSpPr/>
          <p:nvPr/>
        </p:nvSpPr>
        <p:spPr>
          <a:xfrm>
            <a:off x="5743932" y="3223617"/>
            <a:ext cx="3156347" cy="832961"/>
          </a:xfrm>
          <a:prstGeom prst="rect">
            <a:avLst/>
          </a:prstGeom>
          <a:noFill/>
          <a:ln/>
        </p:spPr>
        <p:txBody>
          <a:bodyPr wrap="square" rtlCol="0" anchor="t"/>
          <a:lstStyle/>
          <a:p>
            <a:pPr indent="0" marL="0">
              <a:lnSpc>
                <a:spcPts val="3281"/>
              </a:lnSpc>
              <a:buNone/>
            </a:pPr>
            <a:r>
              <a:rPr lang="en-US" sz="2624" dirty="0">
                <a:solidFill>
                  <a:srgbClr val="F2F2F3"/>
                </a:solidFill>
                <a:latin typeface="Poppins" pitchFamily="34" charset="0"/>
                <a:ea typeface="Poppins" pitchFamily="34" charset="-122"/>
                <a:cs typeface="Poppins" pitchFamily="34" charset="-120"/>
              </a:rPr>
              <a:t>Data preprocessing</a:t>
            </a:r>
            <a:endParaRPr lang="en-US" sz="2624" dirty="0"/>
          </a:p>
        </p:txBody>
      </p:sp>
      <p:sp>
        <p:nvSpPr>
          <p:cNvPr id="8" name="Text 6"/>
          <p:cNvSpPr/>
          <p:nvPr/>
        </p:nvSpPr>
        <p:spPr>
          <a:xfrm>
            <a:off x="5743932" y="4278749"/>
            <a:ext cx="3156347" cy="1777008"/>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Cleaning and transforming the dataset, handling missing values, and standardizing variables to prepare it for analysis.</a:t>
            </a:r>
            <a:endParaRPr lang="en-US" sz="1750" dirty="0"/>
          </a:p>
        </p:txBody>
      </p:sp>
      <p:sp>
        <p:nvSpPr>
          <p:cNvPr id="9" name="Text 7"/>
          <p:cNvSpPr/>
          <p:nvPr/>
        </p:nvSpPr>
        <p:spPr>
          <a:xfrm>
            <a:off x="9449872" y="3223617"/>
            <a:ext cx="2666286" cy="416481"/>
          </a:xfrm>
          <a:prstGeom prst="rect">
            <a:avLst/>
          </a:prstGeom>
          <a:noFill/>
          <a:ln/>
        </p:spPr>
        <p:txBody>
          <a:bodyPr wrap="none" rtlCol="0" anchor="t"/>
          <a:lstStyle/>
          <a:p>
            <a:pPr indent="0" marL="0">
              <a:lnSpc>
                <a:spcPts val="3281"/>
              </a:lnSpc>
              <a:buNone/>
            </a:pPr>
            <a:r>
              <a:rPr lang="en-US" sz="2624" dirty="0">
                <a:solidFill>
                  <a:srgbClr val="F2F2F3"/>
                </a:solidFill>
                <a:latin typeface="Poppins" pitchFamily="34" charset="0"/>
                <a:ea typeface="Poppins" pitchFamily="34" charset="-122"/>
                <a:cs typeface="Poppins" pitchFamily="34" charset="-120"/>
              </a:rPr>
              <a:t>Methods</a:t>
            </a:r>
            <a:endParaRPr lang="en-US" sz="2624" dirty="0"/>
          </a:p>
        </p:txBody>
      </p:sp>
      <p:sp>
        <p:nvSpPr>
          <p:cNvPr id="10" name="Text 8"/>
          <p:cNvSpPr/>
          <p:nvPr/>
        </p:nvSpPr>
        <p:spPr>
          <a:xfrm>
            <a:off x="9449872" y="3862268"/>
            <a:ext cx="3156347" cy="1777008"/>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Applying machine learning algorithms such as decision trees, logistic regression, and support vector machines for classification and prediction.</a:t>
            </a:r>
            <a:endParaRPr lang="en-US" sz="1750" dirty="0"/>
          </a:p>
        </p:txBody>
      </p:sp>
      <p:pic>
        <p:nvPicPr>
          <p:cNvPr id="11"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pic>
        <p:nvPicPr>
          <p:cNvPr id="4"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5" name="Text 2"/>
          <p:cNvSpPr/>
          <p:nvPr/>
        </p:nvSpPr>
        <p:spPr>
          <a:xfrm>
            <a:off x="833199" y="2365296"/>
            <a:ext cx="7477601" cy="1388745"/>
          </a:xfrm>
          <a:prstGeom prst="rect">
            <a:avLst/>
          </a:prstGeom>
          <a:noFill/>
          <a:ln/>
        </p:spPr>
        <p:txBody>
          <a:bodyPr wrap="squar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Feature selection and transformation techniques</a:t>
            </a:r>
            <a:endParaRPr lang="en-US" sz="4374" dirty="0"/>
          </a:p>
        </p:txBody>
      </p:sp>
      <p:sp>
        <p:nvSpPr>
          <p:cNvPr id="6" name="Text 3"/>
          <p:cNvSpPr/>
          <p:nvPr/>
        </p:nvSpPr>
        <p:spPr>
          <a:xfrm>
            <a:off x="833199" y="4087297"/>
            <a:ext cx="7477601" cy="1777008"/>
          </a:xfrm>
          <a:prstGeom prst="rect">
            <a:avLst/>
          </a:prstGeom>
          <a:noFill/>
          <a:ln/>
        </p:spPr>
        <p:txBody>
          <a:bodyPr wrap="square" rtlCol="0" anchor="t"/>
          <a:lstStyle/>
          <a:p>
            <a:pPr indent="0" marL="0">
              <a:lnSpc>
                <a:spcPts val="2799"/>
              </a:lnSpc>
              <a:buNone/>
            </a:pPr>
            <a:r>
              <a:rPr lang="en-US" sz="1750" b="1" dirty="0">
                <a:solidFill>
                  <a:srgbClr val="E5E0DF"/>
                </a:solidFill>
                <a:latin typeface="Roboto" pitchFamily="34" charset="0"/>
                <a:ea typeface="Roboto" pitchFamily="34" charset="-122"/>
                <a:cs typeface="Roboto" pitchFamily="34" charset="-120"/>
              </a:rPr>
              <a:t>Feature Selection:</a:t>
            </a:r>
            <a:pPr indent="0" marL="0">
              <a:lnSpc>
                <a:spcPts val="2799"/>
              </a:lnSpc>
              <a:buNone/>
            </a:pPr>
            <a:r>
              <a:rPr lang="en-US" sz="1750" dirty="0">
                <a:solidFill>
                  <a:srgbClr val="E5E0DF"/>
                </a:solidFill>
                <a:latin typeface="Roboto" pitchFamily="34" charset="0"/>
                <a:ea typeface="Roboto" pitchFamily="34" charset="-122"/>
                <a:cs typeface="Roboto" pitchFamily="34" charset="-120"/>
              </a:rPr>
              <a:t> Utilizing techniques like Recursive Feature Elimination (RFE) and SelectKBest to identify the most influential attributes for accurate predictions. </a:t>
            </a:r>
            <a:pPr indent="0" marL="0">
              <a:lnSpc>
                <a:spcPts val="2799"/>
              </a:lnSpc>
              <a:buNone/>
            </a:pPr>
            <a:r>
              <a:rPr lang="en-US" sz="1750" b="1" dirty="0">
                <a:solidFill>
                  <a:srgbClr val="E5E0DF"/>
                </a:solidFill>
                <a:latin typeface="Roboto" pitchFamily="34" charset="0"/>
                <a:ea typeface="Roboto" pitchFamily="34" charset="-122"/>
                <a:cs typeface="Roboto" pitchFamily="34" charset="-120"/>
              </a:rPr>
              <a:t>Transformation Techniques:</a:t>
            </a:r>
            <a:pPr indent="0" marL="0">
              <a:lnSpc>
                <a:spcPts val="2799"/>
              </a:lnSpc>
              <a:buNone/>
            </a:pPr>
            <a:r>
              <a:rPr lang="en-US" sz="1750" dirty="0">
                <a:solidFill>
                  <a:srgbClr val="E5E0DF"/>
                </a:solidFill>
                <a:latin typeface="Roboto" pitchFamily="34" charset="0"/>
                <a:ea typeface="Roboto" pitchFamily="34" charset="-122"/>
                <a:cs typeface="Roboto" pitchFamily="34" charset="-120"/>
              </a:rPr>
              <a:t> Employing techniques such as Principal Component Analysis (PCA) and feature scaling to enhance model performance and reduce dimensionality.</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sp>
        <p:nvSpPr>
          <p:cNvPr id="4" name="Text 2"/>
          <p:cNvSpPr/>
          <p:nvPr/>
        </p:nvSpPr>
        <p:spPr>
          <a:xfrm>
            <a:off x="2037993" y="1392555"/>
            <a:ext cx="6149340" cy="694373"/>
          </a:xfrm>
          <a:prstGeom prst="rect">
            <a:avLst/>
          </a:prstGeom>
          <a:noFill/>
          <a:ln/>
        </p:spPr>
        <p:txBody>
          <a:bodyPr wrap="non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Results/Figures/Tables</a:t>
            </a:r>
            <a:endParaRPr lang="en-US" sz="4374" dirty="0"/>
          </a:p>
        </p:txBody>
      </p:sp>
      <p:pic>
        <p:nvPicPr>
          <p:cNvPr id="5" name="Image 0" descr="preencoded.png">    </p:cNvPr>
          <p:cNvPicPr>
            <a:picLocks noChangeAspect="1"/>
          </p:cNvPicPr>
          <p:nvPr/>
        </p:nvPicPr>
        <p:blipFill>
          <a:blip r:embed="rId1"/>
          <a:stretch>
            <a:fillRect/>
          </a:stretch>
        </p:blipFill>
        <p:spPr>
          <a:xfrm>
            <a:off x="2037993" y="2531269"/>
            <a:ext cx="3295888" cy="2036921"/>
          </a:xfrm>
          <a:prstGeom prst="rect">
            <a:avLst/>
          </a:prstGeom>
        </p:spPr>
      </p:pic>
      <p:sp>
        <p:nvSpPr>
          <p:cNvPr id="6" name="Text 3"/>
          <p:cNvSpPr/>
          <p:nvPr/>
        </p:nvSpPr>
        <p:spPr>
          <a:xfrm>
            <a:off x="2037993" y="4845844"/>
            <a:ext cx="2221944" cy="347186"/>
          </a:xfrm>
          <a:prstGeom prst="rect">
            <a:avLst/>
          </a:prstGeom>
          <a:noFill/>
          <a:ln/>
        </p:spPr>
        <p:txBody>
          <a:bodyPr wrap="none" rtlCol="0" anchor="t"/>
          <a:lstStyle/>
          <a:p>
            <a:pPr algn="l" indent="0" marL="0">
              <a:lnSpc>
                <a:spcPts val="2734"/>
              </a:lnSpc>
              <a:buNone/>
            </a:pPr>
            <a:r>
              <a:rPr lang="en-US" sz="2187" dirty="0">
                <a:solidFill>
                  <a:srgbClr val="F2F2F3"/>
                </a:solidFill>
                <a:latin typeface="Poppins" pitchFamily="34" charset="0"/>
                <a:ea typeface="Poppins" pitchFamily="34" charset="-122"/>
                <a:cs typeface="Poppins" pitchFamily="34" charset="-120"/>
              </a:rPr>
              <a:t>Accuracy</a:t>
            </a:r>
            <a:endParaRPr lang="en-US" sz="2187" dirty="0"/>
          </a:p>
        </p:txBody>
      </p:sp>
      <p:sp>
        <p:nvSpPr>
          <p:cNvPr id="7" name="Text 4"/>
          <p:cNvSpPr/>
          <p:nvPr/>
        </p:nvSpPr>
        <p:spPr>
          <a:xfrm>
            <a:off x="2037993" y="5415201"/>
            <a:ext cx="3295888" cy="1421606"/>
          </a:xfrm>
          <a:prstGeom prst="rect">
            <a:avLst/>
          </a:prstGeom>
          <a:noFill/>
          <a:ln/>
        </p:spPr>
        <p:txBody>
          <a:bodyPr wrap="square" rtlCol="0" anchor="t"/>
          <a:lstStyle/>
          <a:p>
            <a:pPr algn="l" indent="0" marL="0">
              <a:lnSpc>
                <a:spcPts val="2799"/>
              </a:lnSpc>
              <a:buNone/>
            </a:pPr>
            <a:r>
              <a:rPr lang="en-US" sz="1750" dirty="0">
                <a:solidFill>
                  <a:srgbClr val="E5E0DF"/>
                </a:solidFill>
                <a:latin typeface="Roboto" pitchFamily="34" charset="0"/>
                <a:ea typeface="Roboto" pitchFamily="34" charset="-122"/>
                <a:cs typeface="Roboto" pitchFamily="34" charset="-120"/>
              </a:rPr>
              <a:t>Our model achieved an accuracy of 92.5% in predicting lung cancer cases, demonstrating its effectiveness.</a:t>
            </a:r>
            <a:endParaRPr lang="en-US" sz="1750" dirty="0"/>
          </a:p>
        </p:txBody>
      </p:sp>
      <p:pic>
        <p:nvPicPr>
          <p:cNvPr id="8" name="Image 1" descr="preencoded.png">    </p:cNvPr>
          <p:cNvPicPr>
            <a:picLocks noChangeAspect="1"/>
          </p:cNvPicPr>
          <p:nvPr/>
        </p:nvPicPr>
        <p:blipFill>
          <a:blip r:embed="rId2"/>
          <a:stretch>
            <a:fillRect/>
          </a:stretch>
        </p:blipFill>
        <p:spPr>
          <a:xfrm>
            <a:off x="5667137" y="2531269"/>
            <a:ext cx="3296007" cy="2037040"/>
          </a:xfrm>
          <a:prstGeom prst="rect">
            <a:avLst/>
          </a:prstGeom>
        </p:spPr>
      </p:pic>
      <p:sp>
        <p:nvSpPr>
          <p:cNvPr id="9" name="Text 5"/>
          <p:cNvSpPr/>
          <p:nvPr/>
        </p:nvSpPr>
        <p:spPr>
          <a:xfrm>
            <a:off x="5667137" y="4845963"/>
            <a:ext cx="2221944" cy="347186"/>
          </a:xfrm>
          <a:prstGeom prst="rect">
            <a:avLst/>
          </a:prstGeom>
          <a:noFill/>
          <a:ln/>
        </p:spPr>
        <p:txBody>
          <a:bodyPr wrap="none" rtlCol="0" anchor="t"/>
          <a:lstStyle/>
          <a:p>
            <a:pPr algn="l" indent="0" marL="0">
              <a:lnSpc>
                <a:spcPts val="2734"/>
              </a:lnSpc>
              <a:buNone/>
            </a:pPr>
            <a:r>
              <a:rPr lang="en-US" sz="2187" dirty="0">
                <a:solidFill>
                  <a:srgbClr val="F2F2F3"/>
                </a:solidFill>
                <a:latin typeface="Poppins" pitchFamily="34" charset="0"/>
                <a:ea typeface="Poppins" pitchFamily="34" charset="-122"/>
                <a:cs typeface="Poppins" pitchFamily="34" charset="-120"/>
              </a:rPr>
              <a:t>Comparison</a:t>
            </a:r>
            <a:endParaRPr lang="en-US" sz="2187" dirty="0"/>
          </a:p>
        </p:txBody>
      </p:sp>
      <p:sp>
        <p:nvSpPr>
          <p:cNvPr id="10" name="Text 6"/>
          <p:cNvSpPr/>
          <p:nvPr/>
        </p:nvSpPr>
        <p:spPr>
          <a:xfrm>
            <a:off x="5667137" y="5415320"/>
            <a:ext cx="3296007" cy="1421606"/>
          </a:xfrm>
          <a:prstGeom prst="rect">
            <a:avLst/>
          </a:prstGeom>
          <a:noFill/>
          <a:ln/>
        </p:spPr>
        <p:txBody>
          <a:bodyPr wrap="square" rtlCol="0" anchor="t"/>
          <a:lstStyle/>
          <a:p>
            <a:pPr algn="l" indent="0" marL="0">
              <a:lnSpc>
                <a:spcPts val="2799"/>
              </a:lnSpc>
              <a:buNone/>
            </a:pPr>
            <a:r>
              <a:rPr lang="en-US" sz="1750" dirty="0">
                <a:solidFill>
                  <a:srgbClr val="E5E0DF"/>
                </a:solidFill>
                <a:latin typeface="Roboto" pitchFamily="34" charset="0"/>
                <a:ea typeface="Roboto" pitchFamily="34" charset="-122"/>
                <a:cs typeface="Roboto" pitchFamily="34" charset="-120"/>
              </a:rPr>
              <a:t>A bar chart showcasing the performance of different machine learning algorithms used in the project.</a:t>
            </a:r>
            <a:endParaRPr lang="en-US" sz="1750" dirty="0"/>
          </a:p>
        </p:txBody>
      </p:sp>
      <p:pic>
        <p:nvPicPr>
          <p:cNvPr id="11" name="Image 2" descr="preencoded.png">    </p:cNvPr>
          <p:cNvPicPr>
            <a:picLocks noChangeAspect="1"/>
          </p:cNvPicPr>
          <p:nvPr/>
        </p:nvPicPr>
        <p:blipFill>
          <a:blip r:embed="rId3"/>
          <a:stretch>
            <a:fillRect/>
          </a:stretch>
        </p:blipFill>
        <p:spPr>
          <a:xfrm>
            <a:off x="9296400" y="2531269"/>
            <a:ext cx="3296007" cy="2037040"/>
          </a:xfrm>
          <a:prstGeom prst="rect">
            <a:avLst/>
          </a:prstGeom>
        </p:spPr>
      </p:pic>
      <p:sp>
        <p:nvSpPr>
          <p:cNvPr id="12" name="Text 7"/>
          <p:cNvSpPr/>
          <p:nvPr/>
        </p:nvSpPr>
        <p:spPr>
          <a:xfrm>
            <a:off x="9296400" y="4845963"/>
            <a:ext cx="2293620" cy="347186"/>
          </a:xfrm>
          <a:prstGeom prst="rect">
            <a:avLst/>
          </a:prstGeom>
          <a:noFill/>
          <a:ln/>
        </p:spPr>
        <p:txBody>
          <a:bodyPr wrap="none" rtlCol="0" anchor="t"/>
          <a:lstStyle/>
          <a:p>
            <a:pPr algn="l" indent="0" marL="0">
              <a:lnSpc>
                <a:spcPts val="2734"/>
              </a:lnSpc>
              <a:buNone/>
            </a:pPr>
            <a:r>
              <a:rPr lang="en-US" sz="2187" dirty="0">
                <a:solidFill>
                  <a:srgbClr val="F2F2F3"/>
                </a:solidFill>
                <a:latin typeface="Poppins" pitchFamily="34" charset="0"/>
                <a:ea typeface="Poppins" pitchFamily="34" charset="-122"/>
                <a:cs typeface="Poppins" pitchFamily="34" charset="-120"/>
              </a:rPr>
              <a:t>Confusion Matrix</a:t>
            </a:r>
            <a:endParaRPr lang="en-US" sz="2187" dirty="0"/>
          </a:p>
        </p:txBody>
      </p:sp>
      <p:sp>
        <p:nvSpPr>
          <p:cNvPr id="13" name="Text 8"/>
          <p:cNvSpPr/>
          <p:nvPr/>
        </p:nvSpPr>
        <p:spPr>
          <a:xfrm>
            <a:off x="9296400" y="5415320"/>
            <a:ext cx="3296007" cy="1421606"/>
          </a:xfrm>
          <a:prstGeom prst="rect">
            <a:avLst/>
          </a:prstGeom>
          <a:noFill/>
          <a:ln/>
        </p:spPr>
        <p:txBody>
          <a:bodyPr wrap="square" rtlCol="0" anchor="t"/>
          <a:lstStyle/>
          <a:p>
            <a:pPr algn="l" indent="0" marL="0">
              <a:lnSpc>
                <a:spcPts val="2799"/>
              </a:lnSpc>
              <a:buNone/>
            </a:pPr>
            <a:r>
              <a:rPr lang="en-US" sz="1750" dirty="0">
                <a:solidFill>
                  <a:srgbClr val="E5E0DF"/>
                </a:solidFill>
                <a:latin typeface="Roboto" pitchFamily="34" charset="0"/>
                <a:ea typeface="Roboto" pitchFamily="34" charset="-122"/>
                <a:cs typeface="Roboto" pitchFamily="34" charset="-120"/>
              </a:rPr>
              <a:t>A comprehensive table illustrating the true positive, true negative, false positive, and false negative values.</a:t>
            </a:r>
            <a:endParaRPr lang="en-US" sz="1750" dirty="0"/>
          </a:p>
        </p:txBody>
      </p:sp>
      <p:pic>
        <p:nvPicPr>
          <p:cNvPr id="14"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pic>
        <p:nvPicPr>
          <p:cNvPr id="4" name="Image 0" descr="preencoded.png">    </p:cNvPr>
          <p:cNvPicPr>
            <a:picLocks noChangeAspect="1"/>
          </p:cNvPicPr>
          <p:nvPr/>
        </p:nvPicPr>
        <p:blipFill>
          <a:blip r:embed="rId1"/>
          <a:stretch>
            <a:fillRect/>
          </a:stretch>
        </p:blipFill>
        <p:spPr>
          <a:xfrm>
            <a:off x="0" y="0"/>
            <a:ext cx="3657600" cy="8229600"/>
          </a:xfrm>
          <a:prstGeom prst="rect">
            <a:avLst/>
          </a:prstGeom>
        </p:spPr>
      </p:pic>
      <p:sp>
        <p:nvSpPr>
          <p:cNvPr id="5" name="Text 2"/>
          <p:cNvSpPr/>
          <p:nvPr/>
        </p:nvSpPr>
        <p:spPr>
          <a:xfrm>
            <a:off x="4490799" y="1959769"/>
            <a:ext cx="5852160" cy="694373"/>
          </a:xfrm>
          <a:prstGeom prst="rect">
            <a:avLst/>
          </a:prstGeom>
          <a:noFill/>
          <a:ln/>
        </p:spPr>
        <p:txBody>
          <a:bodyPr wrap="non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Interpretation of Error</a:t>
            </a:r>
            <a:endParaRPr lang="en-US" sz="4374" dirty="0"/>
          </a:p>
        </p:txBody>
      </p:sp>
      <p:sp>
        <p:nvSpPr>
          <p:cNvPr id="6" name="Shape 3"/>
          <p:cNvSpPr/>
          <p:nvPr/>
        </p:nvSpPr>
        <p:spPr>
          <a:xfrm>
            <a:off x="4490799" y="3160990"/>
            <a:ext cx="499943" cy="499943"/>
          </a:xfrm>
          <a:prstGeom prst="roundRect">
            <a:avLst>
              <a:gd name="adj" fmla="val 20000"/>
            </a:avLst>
          </a:prstGeom>
          <a:solidFill>
            <a:srgbClr val="3D3D42"/>
          </a:solidFill>
          <a:ln w="13811">
            <a:solidFill>
              <a:srgbClr val="494950"/>
            </a:solidFill>
            <a:prstDash val="solid"/>
          </a:ln>
        </p:spPr>
      </p:sp>
      <p:sp>
        <p:nvSpPr>
          <p:cNvPr id="7" name="Text 4"/>
          <p:cNvSpPr/>
          <p:nvPr/>
        </p:nvSpPr>
        <p:spPr>
          <a:xfrm>
            <a:off x="4691182" y="3202662"/>
            <a:ext cx="9906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1</a:t>
            </a:r>
            <a:endParaRPr lang="en-US" sz="2624" dirty="0"/>
          </a:p>
        </p:txBody>
      </p:sp>
      <p:sp>
        <p:nvSpPr>
          <p:cNvPr id="8" name="Text 5"/>
          <p:cNvSpPr/>
          <p:nvPr/>
        </p:nvSpPr>
        <p:spPr>
          <a:xfrm>
            <a:off x="5212913" y="3237309"/>
            <a:ext cx="2221944"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False Positives</a:t>
            </a:r>
            <a:endParaRPr lang="en-US" sz="2187" dirty="0"/>
          </a:p>
        </p:txBody>
      </p:sp>
      <p:sp>
        <p:nvSpPr>
          <p:cNvPr id="9" name="Text 6"/>
          <p:cNvSpPr/>
          <p:nvPr/>
        </p:nvSpPr>
        <p:spPr>
          <a:xfrm>
            <a:off x="5212913" y="3806666"/>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Instances where the model predicted lung cancer incorrectly, potentially leading to unnecessary medical interventions.</a:t>
            </a:r>
            <a:endParaRPr lang="en-US" sz="1750" dirty="0"/>
          </a:p>
        </p:txBody>
      </p:sp>
      <p:sp>
        <p:nvSpPr>
          <p:cNvPr id="10" name="Shape 7"/>
          <p:cNvSpPr/>
          <p:nvPr/>
        </p:nvSpPr>
        <p:spPr>
          <a:xfrm>
            <a:off x="4490799" y="4913233"/>
            <a:ext cx="499943" cy="499943"/>
          </a:xfrm>
          <a:prstGeom prst="roundRect">
            <a:avLst>
              <a:gd name="adj" fmla="val 20000"/>
            </a:avLst>
          </a:prstGeom>
          <a:solidFill>
            <a:srgbClr val="3D3D42"/>
          </a:solidFill>
          <a:ln w="13811">
            <a:solidFill>
              <a:srgbClr val="494950"/>
            </a:solidFill>
            <a:prstDash val="solid"/>
          </a:ln>
        </p:spPr>
      </p:sp>
      <p:sp>
        <p:nvSpPr>
          <p:cNvPr id="11" name="Text 8"/>
          <p:cNvSpPr/>
          <p:nvPr/>
        </p:nvSpPr>
        <p:spPr>
          <a:xfrm>
            <a:off x="4645462" y="4954905"/>
            <a:ext cx="19050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2</a:t>
            </a:r>
            <a:endParaRPr lang="en-US" sz="2624" dirty="0"/>
          </a:p>
        </p:txBody>
      </p:sp>
      <p:sp>
        <p:nvSpPr>
          <p:cNvPr id="12" name="Text 9"/>
          <p:cNvSpPr/>
          <p:nvPr/>
        </p:nvSpPr>
        <p:spPr>
          <a:xfrm>
            <a:off x="5212913" y="4989552"/>
            <a:ext cx="2221944"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False Negatives</a:t>
            </a:r>
            <a:endParaRPr lang="en-US" sz="2187" dirty="0"/>
          </a:p>
        </p:txBody>
      </p:sp>
      <p:sp>
        <p:nvSpPr>
          <p:cNvPr id="13" name="Text 10"/>
          <p:cNvSpPr/>
          <p:nvPr/>
        </p:nvSpPr>
        <p:spPr>
          <a:xfrm>
            <a:off x="5212913" y="5558909"/>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Cases where the model failed to predict lung cancer, possibly resulting in delayed diagnosis and treatment.</a:t>
            </a:r>
            <a:endParaRPr lang="en-US" sz="1750" dirty="0"/>
          </a:p>
        </p:txBody>
      </p:sp>
      <p:pic>
        <p:nvPicPr>
          <p:cNvPr id="14"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pic>
        <p:nvPicPr>
          <p:cNvPr id="4"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050505">
              <a:alpha val="80000"/>
            </a:srgbClr>
          </a:solidFill>
          <a:ln/>
        </p:spPr>
      </p:sp>
      <p:sp>
        <p:nvSpPr>
          <p:cNvPr id="6" name="Text 3"/>
          <p:cNvSpPr/>
          <p:nvPr/>
        </p:nvSpPr>
        <p:spPr>
          <a:xfrm>
            <a:off x="2037993" y="1232297"/>
            <a:ext cx="4443889" cy="694373"/>
          </a:xfrm>
          <a:prstGeom prst="rect">
            <a:avLst/>
          </a:prstGeom>
          <a:noFill/>
          <a:ln/>
        </p:spPr>
        <p:txBody>
          <a:bodyPr wrap="non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Discussion</a:t>
            </a:r>
            <a:endParaRPr lang="en-US" sz="4374" dirty="0"/>
          </a:p>
        </p:txBody>
      </p:sp>
      <p:sp>
        <p:nvSpPr>
          <p:cNvPr id="7" name="Shape 4"/>
          <p:cNvSpPr/>
          <p:nvPr/>
        </p:nvSpPr>
        <p:spPr>
          <a:xfrm>
            <a:off x="7293054" y="2259925"/>
            <a:ext cx="44410" cy="4737378"/>
          </a:xfrm>
          <a:prstGeom prst="rect">
            <a:avLst/>
          </a:prstGeom>
          <a:solidFill>
            <a:srgbClr val="494950"/>
          </a:solidFill>
          <a:ln/>
        </p:spPr>
      </p:sp>
      <p:sp>
        <p:nvSpPr>
          <p:cNvPr id="8" name="Shape 5"/>
          <p:cNvSpPr/>
          <p:nvPr/>
        </p:nvSpPr>
        <p:spPr>
          <a:xfrm>
            <a:off x="7565172" y="2661225"/>
            <a:ext cx="777597" cy="44410"/>
          </a:xfrm>
          <a:prstGeom prst="rect">
            <a:avLst/>
          </a:prstGeom>
          <a:solidFill>
            <a:srgbClr val="494950"/>
          </a:solidFill>
          <a:ln/>
        </p:spPr>
      </p:sp>
      <p:sp>
        <p:nvSpPr>
          <p:cNvPr id="9" name="Shape 6"/>
          <p:cNvSpPr/>
          <p:nvPr/>
        </p:nvSpPr>
        <p:spPr>
          <a:xfrm>
            <a:off x="7065228" y="2433518"/>
            <a:ext cx="499943" cy="499943"/>
          </a:xfrm>
          <a:prstGeom prst="roundRect">
            <a:avLst>
              <a:gd name="adj" fmla="val 20000"/>
            </a:avLst>
          </a:prstGeom>
          <a:solidFill>
            <a:srgbClr val="3D3D42"/>
          </a:solidFill>
          <a:ln w="13811">
            <a:solidFill>
              <a:srgbClr val="494950"/>
            </a:solidFill>
            <a:prstDash val="solid"/>
          </a:ln>
        </p:spPr>
      </p:sp>
      <p:sp>
        <p:nvSpPr>
          <p:cNvPr id="10" name="Text 7"/>
          <p:cNvSpPr/>
          <p:nvPr/>
        </p:nvSpPr>
        <p:spPr>
          <a:xfrm>
            <a:off x="7265610" y="2475190"/>
            <a:ext cx="9906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1</a:t>
            </a:r>
            <a:endParaRPr lang="en-US" sz="2624" dirty="0"/>
          </a:p>
        </p:txBody>
      </p:sp>
      <p:sp>
        <p:nvSpPr>
          <p:cNvPr id="11" name="Text 8"/>
          <p:cNvSpPr/>
          <p:nvPr/>
        </p:nvSpPr>
        <p:spPr>
          <a:xfrm>
            <a:off x="8537258" y="2482096"/>
            <a:ext cx="2221944" cy="347186"/>
          </a:xfrm>
          <a:prstGeom prst="rect">
            <a:avLst/>
          </a:prstGeom>
          <a:noFill/>
          <a:ln/>
        </p:spPr>
        <p:txBody>
          <a:bodyPr wrap="none" rtlCol="0" anchor="t"/>
          <a:lstStyle/>
          <a:p>
            <a:pPr algn="l" indent="0" marL="0">
              <a:lnSpc>
                <a:spcPts val="2734"/>
              </a:lnSpc>
              <a:buNone/>
            </a:pPr>
            <a:r>
              <a:rPr lang="en-US" sz="2187" dirty="0">
                <a:solidFill>
                  <a:srgbClr val="E5E0DF"/>
                </a:solidFill>
                <a:latin typeface="Poppins" pitchFamily="34" charset="0"/>
                <a:ea typeface="Poppins" pitchFamily="34" charset="-122"/>
                <a:cs typeface="Poppins" pitchFamily="34" charset="-120"/>
              </a:rPr>
              <a:t>Key Findings</a:t>
            </a:r>
            <a:endParaRPr lang="en-US" sz="2187" dirty="0"/>
          </a:p>
        </p:txBody>
      </p:sp>
      <p:sp>
        <p:nvSpPr>
          <p:cNvPr id="12" name="Text 9"/>
          <p:cNvSpPr/>
          <p:nvPr/>
        </p:nvSpPr>
        <p:spPr>
          <a:xfrm>
            <a:off x="8537258" y="3051453"/>
            <a:ext cx="4055150" cy="1066205"/>
          </a:xfrm>
          <a:prstGeom prst="rect">
            <a:avLst/>
          </a:prstGeom>
          <a:noFill/>
          <a:ln/>
        </p:spPr>
        <p:txBody>
          <a:bodyPr wrap="square" rtlCol="0" anchor="t"/>
          <a:lstStyle/>
          <a:p>
            <a:pPr algn="l" indent="0" marL="0">
              <a:lnSpc>
                <a:spcPts val="2799"/>
              </a:lnSpc>
              <a:buNone/>
            </a:pPr>
            <a:r>
              <a:rPr lang="en-US" sz="1750" dirty="0">
                <a:solidFill>
                  <a:srgbClr val="E5E0DF"/>
                </a:solidFill>
                <a:latin typeface="Roboto" pitchFamily="34" charset="0"/>
                <a:ea typeface="Roboto" pitchFamily="34" charset="-122"/>
                <a:cs typeface="Roboto" pitchFamily="34" charset="-120"/>
              </a:rPr>
              <a:t>Uncovering significant factors contributing to lung cancer development and identifying potential risk groups.</a:t>
            </a:r>
            <a:endParaRPr lang="en-US" sz="1750" dirty="0"/>
          </a:p>
        </p:txBody>
      </p:sp>
      <p:sp>
        <p:nvSpPr>
          <p:cNvPr id="13" name="Shape 10"/>
          <p:cNvSpPr/>
          <p:nvPr/>
        </p:nvSpPr>
        <p:spPr>
          <a:xfrm>
            <a:off x="6287631" y="3772079"/>
            <a:ext cx="777597" cy="44410"/>
          </a:xfrm>
          <a:prstGeom prst="rect">
            <a:avLst/>
          </a:prstGeom>
          <a:solidFill>
            <a:srgbClr val="494950"/>
          </a:solidFill>
          <a:ln/>
        </p:spPr>
      </p:sp>
      <p:sp>
        <p:nvSpPr>
          <p:cNvPr id="14" name="Shape 11"/>
          <p:cNvSpPr/>
          <p:nvPr/>
        </p:nvSpPr>
        <p:spPr>
          <a:xfrm>
            <a:off x="7065228" y="3544372"/>
            <a:ext cx="499943" cy="499943"/>
          </a:xfrm>
          <a:prstGeom prst="roundRect">
            <a:avLst>
              <a:gd name="adj" fmla="val 20000"/>
            </a:avLst>
          </a:prstGeom>
          <a:solidFill>
            <a:srgbClr val="3D3D42"/>
          </a:solidFill>
          <a:ln w="13811">
            <a:solidFill>
              <a:srgbClr val="494950"/>
            </a:solidFill>
            <a:prstDash val="solid"/>
          </a:ln>
        </p:spPr>
      </p:sp>
      <p:sp>
        <p:nvSpPr>
          <p:cNvPr id="15" name="Text 12"/>
          <p:cNvSpPr/>
          <p:nvPr/>
        </p:nvSpPr>
        <p:spPr>
          <a:xfrm>
            <a:off x="7219890" y="3586043"/>
            <a:ext cx="19050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2</a:t>
            </a:r>
            <a:endParaRPr lang="en-US" sz="2624" dirty="0"/>
          </a:p>
        </p:txBody>
      </p:sp>
      <p:sp>
        <p:nvSpPr>
          <p:cNvPr id="16" name="Text 13"/>
          <p:cNvSpPr/>
          <p:nvPr/>
        </p:nvSpPr>
        <p:spPr>
          <a:xfrm>
            <a:off x="3871198" y="3592949"/>
            <a:ext cx="2221944" cy="347186"/>
          </a:xfrm>
          <a:prstGeom prst="rect">
            <a:avLst/>
          </a:prstGeom>
          <a:noFill/>
          <a:ln/>
        </p:spPr>
        <p:txBody>
          <a:bodyPr wrap="none" rtlCol="0" anchor="t"/>
          <a:lstStyle/>
          <a:p>
            <a:pPr algn="r" indent="0" marL="0">
              <a:lnSpc>
                <a:spcPts val="2734"/>
              </a:lnSpc>
              <a:buNone/>
            </a:pPr>
            <a:r>
              <a:rPr lang="en-US" sz="2187" dirty="0">
                <a:solidFill>
                  <a:srgbClr val="E5E0DF"/>
                </a:solidFill>
                <a:latin typeface="Poppins" pitchFamily="34" charset="0"/>
                <a:ea typeface="Poppins" pitchFamily="34" charset="-122"/>
                <a:cs typeface="Poppins" pitchFamily="34" charset="-120"/>
              </a:rPr>
              <a:t>Implications</a:t>
            </a:r>
            <a:endParaRPr lang="en-US" sz="2187" dirty="0"/>
          </a:p>
        </p:txBody>
      </p:sp>
      <p:sp>
        <p:nvSpPr>
          <p:cNvPr id="17" name="Text 14"/>
          <p:cNvSpPr/>
          <p:nvPr/>
        </p:nvSpPr>
        <p:spPr>
          <a:xfrm>
            <a:off x="2037993" y="4162306"/>
            <a:ext cx="4055150" cy="1066205"/>
          </a:xfrm>
          <a:prstGeom prst="rect">
            <a:avLst/>
          </a:prstGeom>
          <a:noFill/>
          <a:ln/>
        </p:spPr>
        <p:txBody>
          <a:bodyPr wrap="square" rtlCol="0" anchor="t"/>
          <a:lstStyle/>
          <a:p>
            <a:pPr algn="r" indent="0" marL="0">
              <a:lnSpc>
                <a:spcPts val="2799"/>
              </a:lnSpc>
              <a:buNone/>
            </a:pPr>
            <a:r>
              <a:rPr lang="en-US" sz="1750" dirty="0">
                <a:solidFill>
                  <a:srgbClr val="E5E0DF"/>
                </a:solidFill>
                <a:latin typeface="Roboto" pitchFamily="34" charset="0"/>
                <a:ea typeface="Roboto" pitchFamily="34" charset="-122"/>
                <a:cs typeface="Roboto" pitchFamily="34" charset="-120"/>
              </a:rPr>
              <a:t>Discussing the implications of accurate lung cancer prediction on patient outcomes and public health.</a:t>
            </a:r>
            <a:endParaRPr lang="en-US" sz="1750" dirty="0"/>
          </a:p>
        </p:txBody>
      </p:sp>
      <p:sp>
        <p:nvSpPr>
          <p:cNvPr id="18" name="Shape 15"/>
          <p:cNvSpPr/>
          <p:nvPr/>
        </p:nvSpPr>
        <p:spPr>
          <a:xfrm>
            <a:off x="7565172" y="4963299"/>
            <a:ext cx="777597" cy="44410"/>
          </a:xfrm>
          <a:prstGeom prst="rect">
            <a:avLst/>
          </a:prstGeom>
          <a:solidFill>
            <a:srgbClr val="494950"/>
          </a:solidFill>
          <a:ln/>
        </p:spPr>
      </p:sp>
      <p:sp>
        <p:nvSpPr>
          <p:cNvPr id="19" name="Shape 16"/>
          <p:cNvSpPr/>
          <p:nvPr/>
        </p:nvSpPr>
        <p:spPr>
          <a:xfrm>
            <a:off x="7065228" y="4735592"/>
            <a:ext cx="499943" cy="499943"/>
          </a:xfrm>
          <a:prstGeom prst="roundRect">
            <a:avLst>
              <a:gd name="adj" fmla="val 20000"/>
            </a:avLst>
          </a:prstGeom>
          <a:solidFill>
            <a:srgbClr val="3D3D42"/>
          </a:solidFill>
          <a:ln w="13811">
            <a:solidFill>
              <a:srgbClr val="494950"/>
            </a:solidFill>
            <a:prstDash val="solid"/>
          </a:ln>
        </p:spPr>
      </p:sp>
      <p:sp>
        <p:nvSpPr>
          <p:cNvPr id="20" name="Text 17"/>
          <p:cNvSpPr/>
          <p:nvPr/>
        </p:nvSpPr>
        <p:spPr>
          <a:xfrm>
            <a:off x="7216080" y="4777264"/>
            <a:ext cx="19812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3</a:t>
            </a:r>
            <a:endParaRPr lang="en-US" sz="2624" dirty="0"/>
          </a:p>
        </p:txBody>
      </p:sp>
      <p:sp>
        <p:nvSpPr>
          <p:cNvPr id="21" name="Text 18"/>
          <p:cNvSpPr/>
          <p:nvPr/>
        </p:nvSpPr>
        <p:spPr>
          <a:xfrm>
            <a:off x="8537258" y="4784169"/>
            <a:ext cx="2331720" cy="347186"/>
          </a:xfrm>
          <a:prstGeom prst="rect">
            <a:avLst/>
          </a:prstGeom>
          <a:noFill/>
          <a:ln/>
        </p:spPr>
        <p:txBody>
          <a:bodyPr wrap="none" rtlCol="0" anchor="t"/>
          <a:lstStyle/>
          <a:p>
            <a:pPr algn="l" indent="0" marL="0">
              <a:lnSpc>
                <a:spcPts val="2734"/>
              </a:lnSpc>
              <a:buNone/>
            </a:pPr>
            <a:r>
              <a:rPr lang="en-US" sz="2187" dirty="0">
                <a:solidFill>
                  <a:srgbClr val="E5E0DF"/>
                </a:solidFill>
                <a:latin typeface="Poppins" pitchFamily="34" charset="0"/>
                <a:ea typeface="Poppins" pitchFamily="34" charset="-122"/>
                <a:cs typeface="Poppins" pitchFamily="34" charset="-120"/>
              </a:rPr>
              <a:t>Further Research</a:t>
            </a:r>
            <a:endParaRPr lang="en-US" sz="2187" dirty="0"/>
          </a:p>
        </p:txBody>
      </p:sp>
      <p:sp>
        <p:nvSpPr>
          <p:cNvPr id="22" name="Text 19"/>
          <p:cNvSpPr/>
          <p:nvPr/>
        </p:nvSpPr>
        <p:spPr>
          <a:xfrm>
            <a:off x="8537258" y="5353526"/>
            <a:ext cx="4055150" cy="1421606"/>
          </a:xfrm>
          <a:prstGeom prst="rect">
            <a:avLst/>
          </a:prstGeom>
          <a:noFill/>
          <a:ln/>
        </p:spPr>
        <p:txBody>
          <a:bodyPr wrap="square" rtlCol="0" anchor="t"/>
          <a:lstStyle/>
          <a:p>
            <a:pPr algn="l" indent="0" marL="0">
              <a:lnSpc>
                <a:spcPts val="2799"/>
              </a:lnSpc>
              <a:buNone/>
            </a:pPr>
            <a:r>
              <a:rPr lang="en-US" sz="1750" dirty="0">
                <a:solidFill>
                  <a:srgbClr val="E5E0DF"/>
                </a:solidFill>
                <a:latin typeface="Roboto" pitchFamily="34" charset="0"/>
                <a:ea typeface="Roboto" pitchFamily="34" charset="-122"/>
                <a:cs typeface="Roboto" pitchFamily="34" charset="-120"/>
              </a:rPr>
              <a:t>Highlighting avenues for further research, such as exploring additional datasets and integrating advanced machine learning techniques.</a:t>
            </a:r>
            <a:endParaRPr lang="en-US" sz="1750" dirty="0"/>
          </a:p>
        </p:txBody>
      </p:sp>
      <p:pic>
        <p:nvPicPr>
          <p:cNvPr id="23"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pic>
        <p:nvPicPr>
          <p:cNvPr id="4" name="Image 0" descr="preencoded.png">    </p:cNvPr>
          <p:cNvPicPr>
            <a:picLocks noChangeAspect="1"/>
          </p:cNvPicPr>
          <p:nvPr/>
        </p:nvPicPr>
        <p:blipFill>
          <a:blip r:embed="rId1"/>
          <a:stretch>
            <a:fillRect/>
          </a:stretch>
        </p:blipFill>
        <p:spPr>
          <a:xfrm>
            <a:off x="10972800" y="0"/>
            <a:ext cx="3657600" cy="8229600"/>
          </a:xfrm>
          <a:prstGeom prst="rect">
            <a:avLst/>
          </a:prstGeom>
        </p:spPr>
      </p:pic>
      <p:sp>
        <p:nvSpPr>
          <p:cNvPr id="5" name="Text 2"/>
          <p:cNvSpPr/>
          <p:nvPr/>
        </p:nvSpPr>
        <p:spPr>
          <a:xfrm>
            <a:off x="833199" y="736521"/>
            <a:ext cx="9306401" cy="1388745"/>
          </a:xfrm>
          <a:prstGeom prst="rect">
            <a:avLst/>
          </a:prstGeom>
          <a:noFill/>
          <a:ln/>
        </p:spPr>
        <p:txBody>
          <a:bodyPr wrap="squar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Technical Difficulties/Challenges Faced</a:t>
            </a:r>
            <a:endParaRPr lang="en-US" sz="4374" dirty="0"/>
          </a:p>
        </p:txBody>
      </p:sp>
      <p:sp>
        <p:nvSpPr>
          <p:cNvPr id="6" name="Shape 3"/>
          <p:cNvSpPr/>
          <p:nvPr/>
        </p:nvSpPr>
        <p:spPr>
          <a:xfrm>
            <a:off x="833199" y="2632115"/>
            <a:ext cx="499943" cy="499943"/>
          </a:xfrm>
          <a:prstGeom prst="roundRect">
            <a:avLst>
              <a:gd name="adj" fmla="val 20000"/>
            </a:avLst>
          </a:prstGeom>
          <a:solidFill>
            <a:srgbClr val="3D3D42"/>
          </a:solidFill>
          <a:ln w="13811">
            <a:solidFill>
              <a:srgbClr val="494950"/>
            </a:solidFill>
            <a:prstDash val="solid"/>
          </a:ln>
        </p:spPr>
      </p:sp>
      <p:sp>
        <p:nvSpPr>
          <p:cNvPr id="7" name="Text 4"/>
          <p:cNvSpPr/>
          <p:nvPr/>
        </p:nvSpPr>
        <p:spPr>
          <a:xfrm>
            <a:off x="1033582" y="2673787"/>
            <a:ext cx="9906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1</a:t>
            </a:r>
            <a:endParaRPr lang="en-US" sz="2624" dirty="0"/>
          </a:p>
        </p:txBody>
      </p:sp>
      <p:sp>
        <p:nvSpPr>
          <p:cNvPr id="8" name="Text 5"/>
          <p:cNvSpPr/>
          <p:nvPr/>
        </p:nvSpPr>
        <p:spPr>
          <a:xfrm>
            <a:off x="1555313" y="2708434"/>
            <a:ext cx="2221944"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Data Quality</a:t>
            </a:r>
            <a:endParaRPr lang="en-US" sz="2187" dirty="0"/>
          </a:p>
        </p:txBody>
      </p:sp>
      <p:sp>
        <p:nvSpPr>
          <p:cNvPr id="9" name="Text 6"/>
          <p:cNvSpPr/>
          <p:nvPr/>
        </p:nvSpPr>
        <p:spPr>
          <a:xfrm>
            <a:off x="1555313" y="3277791"/>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Addressing issues related to data incompleteness, inconsistencies, and potential biases present in the lung cancer dataset.</a:t>
            </a:r>
            <a:endParaRPr lang="en-US" sz="1750" dirty="0"/>
          </a:p>
        </p:txBody>
      </p:sp>
      <p:sp>
        <p:nvSpPr>
          <p:cNvPr id="10" name="Shape 7"/>
          <p:cNvSpPr/>
          <p:nvPr/>
        </p:nvSpPr>
        <p:spPr>
          <a:xfrm>
            <a:off x="833199" y="4384358"/>
            <a:ext cx="499943" cy="499943"/>
          </a:xfrm>
          <a:prstGeom prst="roundRect">
            <a:avLst>
              <a:gd name="adj" fmla="val 20000"/>
            </a:avLst>
          </a:prstGeom>
          <a:solidFill>
            <a:srgbClr val="3D3D42"/>
          </a:solidFill>
          <a:ln w="13811">
            <a:solidFill>
              <a:srgbClr val="494950"/>
            </a:solidFill>
            <a:prstDash val="solid"/>
          </a:ln>
        </p:spPr>
      </p:sp>
      <p:sp>
        <p:nvSpPr>
          <p:cNvPr id="11" name="Text 8"/>
          <p:cNvSpPr/>
          <p:nvPr/>
        </p:nvSpPr>
        <p:spPr>
          <a:xfrm>
            <a:off x="987862" y="4426029"/>
            <a:ext cx="19050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2</a:t>
            </a:r>
            <a:endParaRPr lang="en-US" sz="2624" dirty="0"/>
          </a:p>
        </p:txBody>
      </p:sp>
      <p:sp>
        <p:nvSpPr>
          <p:cNvPr id="12" name="Text 9"/>
          <p:cNvSpPr/>
          <p:nvPr/>
        </p:nvSpPr>
        <p:spPr>
          <a:xfrm>
            <a:off x="1555313" y="4460677"/>
            <a:ext cx="2674620"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Algorithm Selection</a:t>
            </a:r>
            <a:endParaRPr lang="en-US" sz="2187" dirty="0"/>
          </a:p>
        </p:txBody>
      </p:sp>
      <p:sp>
        <p:nvSpPr>
          <p:cNvPr id="13" name="Text 10"/>
          <p:cNvSpPr/>
          <p:nvPr/>
        </p:nvSpPr>
        <p:spPr>
          <a:xfrm>
            <a:off x="1555313" y="5030033"/>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Choosing the most suitable machine learning algorithms for accurate predictions and balancing performance with interpretability.</a:t>
            </a:r>
            <a:endParaRPr lang="en-US" sz="1750" dirty="0"/>
          </a:p>
        </p:txBody>
      </p:sp>
      <p:sp>
        <p:nvSpPr>
          <p:cNvPr id="14" name="Shape 11"/>
          <p:cNvSpPr/>
          <p:nvPr/>
        </p:nvSpPr>
        <p:spPr>
          <a:xfrm>
            <a:off x="833199" y="6136600"/>
            <a:ext cx="499943" cy="499943"/>
          </a:xfrm>
          <a:prstGeom prst="roundRect">
            <a:avLst>
              <a:gd name="adj" fmla="val 20000"/>
            </a:avLst>
          </a:prstGeom>
          <a:solidFill>
            <a:srgbClr val="3D3D42"/>
          </a:solidFill>
          <a:ln w="13811">
            <a:solidFill>
              <a:srgbClr val="494950"/>
            </a:solidFill>
            <a:prstDash val="solid"/>
          </a:ln>
        </p:spPr>
      </p:sp>
      <p:sp>
        <p:nvSpPr>
          <p:cNvPr id="15" name="Text 12"/>
          <p:cNvSpPr/>
          <p:nvPr/>
        </p:nvSpPr>
        <p:spPr>
          <a:xfrm>
            <a:off x="984052" y="6178272"/>
            <a:ext cx="198120" cy="416481"/>
          </a:xfrm>
          <a:prstGeom prst="rect">
            <a:avLst/>
          </a:prstGeom>
          <a:noFill/>
          <a:ln/>
        </p:spPr>
        <p:txBody>
          <a:bodyPr wrap="none" rtlCol="0" anchor="t"/>
          <a:lstStyle/>
          <a:p>
            <a:pPr algn="ctr" indent="0" marL="0">
              <a:lnSpc>
                <a:spcPts val="3281"/>
              </a:lnSpc>
              <a:buNone/>
            </a:pPr>
            <a:r>
              <a:rPr lang="en-US" sz="2624" dirty="0">
                <a:solidFill>
                  <a:srgbClr val="E5E0DF"/>
                </a:solidFill>
                <a:latin typeface="Poppins" pitchFamily="34" charset="0"/>
                <a:ea typeface="Poppins" pitchFamily="34" charset="-122"/>
                <a:cs typeface="Poppins" pitchFamily="34" charset="-120"/>
              </a:rPr>
              <a:t>3</a:t>
            </a:r>
            <a:endParaRPr lang="en-US" sz="2624" dirty="0"/>
          </a:p>
        </p:txBody>
      </p:sp>
      <p:sp>
        <p:nvSpPr>
          <p:cNvPr id="16" name="Text 13"/>
          <p:cNvSpPr/>
          <p:nvPr/>
        </p:nvSpPr>
        <p:spPr>
          <a:xfrm>
            <a:off x="1555313" y="6212919"/>
            <a:ext cx="2221944" cy="347186"/>
          </a:xfrm>
          <a:prstGeom prst="rect">
            <a:avLst/>
          </a:prstGeom>
          <a:noFill/>
          <a:ln/>
        </p:spPr>
        <p:txBody>
          <a:bodyPr wrap="none" rtlCol="0" anchor="t"/>
          <a:lstStyle/>
          <a:p>
            <a:pPr indent="0" marL="0">
              <a:lnSpc>
                <a:spcPts val="2734"/>
              </a:lnSpc>
              <a:buNone/>
            </a:pPr>
            <a:r>
              <a:rPr lang="en-US" sz="2187" dirty="0">
                <a:solidFill>
                  <a:srgbClr val="E5E0DF"/>
                </a:solidFill>
                <a:latin typeface="Poppins" pitchFamily="34" charset="0"/>
                <a:ea typeface="Poppins" pitchFamily="34" charset="-122"/>
                <a:cs typeface="Poppins" pitchFamily="34" charset="-120"/>
              </a:rPr>
              <a:t>Overfitting</a:t>
            </a:r>
            <a:endParaRPr lang="en-US" sz="2187" dirty="0"/>
          </a:p>
        </p:txBody>
      </p:sp>
      <p:sp>
        <p:nvSpPr>
          <p:cNvPr id="17" name="Text 14"/>
          <p:cNvSpPr/>
          <p:nvPr/>
        </p:nvSpPr>
        <p:spPr>
          <a:xfrm>
            <a:off x="1555313" y="6782276"/>
            <a:ext cx="8584287" cy="710803"/>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Preventing overfitting of the machine learning models and ensuring their generalizability to new and unseen data.</a:t>
            </a:r>
            <a:endParaRPr lang="en-US" sz="1750" dirty="0"/>
          </a:p>
        </p:txBody>
      </p:sp>
      <p:pic>
        <p:nvPicPr>
          <p:cNvPr id="18"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w="13811">
            <a:solidFill>
              <a:srgbClr val="565151"/>
            </a:solidFill>
            <a:prstDash val="solid"/>
          </a:ln>
        </p:spPr>
      </p:sp>
      <p:pic>
        <p:nvPicPr>
          <p:cNvPr id="4"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5" name="Text 2"/>
          <p:cNvSpPr/>
          <p:nvPr/>
        </p:nvSpPr>
        <p:spPr>
          <a:xfrm>
            <a:off x="6319599" y="2712482"/>
            <a:ext cx="6926580" cy="694373"/>
          </a:xfrm>
          <a:prstGeom prst="rect">
            <a:avLst/>
          </a:prstGeom>
          <a:noFill/>
          <a:ln/>
        </p:spPr>
        <p:txBody>
          <a:bodyPr wrap="none" rtlCol="0" anchor="t"/>
          <a:lstStyle/>
          <a:p>
            <a:pPr indent="0" marL="0">
              <a:lnSpc>
                <a:spcPts val="5468"/>
              </a:lnSpc>
              <a:buNone/>
            </a:pPr>
            <a:r>
              <a:rPr lang="en-US" sz="4374" dirty="0">
                <a:solidFill>
                  <a:srgbClr val="F2F2F3"/>
                </a:solidFill>
                <a:latin typeface="Poppins" pitchFamily="34" charset="0"/>
                <a:ea typeface="Poppins" pitchFamily="34" charset="-122"/>
                <a:cs typeface="Poppins" pitchFamily="34" charset="-120"/>
              </a:rPr>
              <a:t>Conclusion/Future Scope</a:t>
            </a:r>
            <a:endParaRPr lang="en-US" sz="4374" dirty="0"/>
          </a:p>
        </p:txBody>
      </p:sp>
      <p:sp>
        <p:nvSpPr>
          <p:cNvPr id="6" name="Text 3"/>
          <p:cNvSpPr/>
          <p:nvPr/>
        </p:nvSpPr>
        <p:spPr>
          <a:xfrm>
            <a:off x="6319599" y="3740110"/>
            <a:ext cx="7477601" cy="1777008"/>
          </a:xfrm>
          <a:prstGeom prst="rect">
            <a:avLst/>
          </a:prstGeom>
          <a:noFill/>
          <a:ln/>
        </p:spPr>
        <p:txBody>
          <a:bodyPr wrap="square" rtlCol="0" anchor="t"/>
          <a:lstStyle/>
          <a:p>
            <a:pPr indent="0" marL="0">
              <a:lnSpc>
                <a:spcPts val="2799"/>
              </a:lnSpc>
              <a:buNone/>
            </a:pPr>
            <a:r>
              <a:rPr lang="en-US" sz="1750" dirty="0">
                <a:solidFill>
                  <a:srgbClr val="E5E0DF"/>
                </a:solidFill>
                <a:latin typeface="Roboto" pitchFamily="34" charset="0"/>
                <a:ea typeface="Roboto" pitchFamily="34" charset="-122"/>
                <a:cs typeface="Roboto" pitchFamily="34" charset="-120"/>
              </a:rPr>
              <a:t>In conclusion, our machine learning project on the lung cancer dataset has demonstrated promising results in predicting lung cancer occurrences. Future scope includes refining the model, validating it with larger datasets, and collaborating with medical professionals to facilitate real-world implementation.</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2023-12-07T20:45:04Z</dcterms:created>
  <dcterms:modified xsi:type="dcterms:W3CDTF">2023-12-07T20:45:04Z</dcterms:modified>
</cp:coreProperties>
</file>